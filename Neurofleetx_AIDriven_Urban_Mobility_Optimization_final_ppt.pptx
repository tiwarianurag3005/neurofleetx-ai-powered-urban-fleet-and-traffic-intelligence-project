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uce Bold" charset="1" panose="00000800000000000000"/>
      <p:regular r:id="rId21"/>
    </p:embeddedFont>
    <p:embeddedFont>
      <p:font typeface="Canva Sans" charset="1" panose="020B0503030501040103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2" Target="../media/image38.jpeg" Type="http://schemas.openxmlformats.org/officeDocument/2006/relationships/image"/><Relationship Id="rId3" Target="../media/image39.jpeg" Type="http://schemas.openxmlformats.org/officeDocument/2006/relationships/image"/><Relationship Id="rId4" Target="../media/image40.jpe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jpe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jpeg" Type="http://schemas.openxmlformats.org/officeDocument/2006/relationships/image"/><Relationship Id="rId5" Target="../media/image5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64.png" Type="http://schemas.openxmlformats.org/officeDocument/2006/relationships/image"/><Relationship Id="rId15" Target="../media/image65.svg" Type="http://schemas.openxmlformats.org/officeDocument/2006/relationships/image"/><Relationship Id="rId16" Target="../media/image66.png" Type="http://schemas.openxmlformats.org/officeDocument/2006/relationships/image"/><Relationship Id="rId17" Target="../media/image67.svg" Type="http://schemas.openxmlformats.org/officeDocument/2006/relationships/image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svg" Type="http://schemas.openxmlformats.org/officeDocument/2006/relationships/image"/><Relationship Id="rId12" Target="../media/image78.png" Type="http://schemas.openxmlformats.org/officeDocument/2006/relationships/image"/><Relationship Id="rId13" Target="../media/image79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80.png" Type="http://schemas.openxmlformats.org/officeDocument/2006/relationships/image"/><Relationship Id="rId17" Target="../media/image81.svg" Type="http://schemas.openxmlformats.org/officeDocument/2006/relationships/image"/><Relationship Id="rId18" Target="../media/image82.png" Type="http://schemas.openxmlformats.org/officeDocument/2006/relationships/image"/><Relationship Id="rId19" Target="../media/image83.svg" Type="http://schemas.openxmlformats.org/officeDocument/2006/relationships/image"/><Relationship Id="rId2" Target="../media/image68.png" Type="http://schemas.openxmlformats.org/officeDocument/2006/relationships/image"/><Relationship Id="rId20" Target="../media/image84.png" Type="http://schemas.openxmlformats.org/officeDocument/2006/relationships/image"/><Relationship Id="rId21" Target="../media/image85.svg" Type="http://schemas.openxmlformats.org/officeDocument/2006/relationships/image"/><Relationship Id="rId22" Target="../media/image86.png" Type="http://schemas.openxmlformats.org/officeDocument/2006/relationships/image"/><Relationship Id="rId23" Target="../media/image87.svg" Type="http://schemas.openxmlformats.org/officeDocument/2006/relationships/image"/><Relationship Id="rId24" Target="../media/image88.png" Type="http://schemas.openxmlformats.org/officeDocument/2006/relationships/image"/><Relationship Id="rId25" Target="../media/image89.sv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Relationship Id="rId3" Target="../media/image91.svg" Type="http://schemas.openxmlformats.org/officeDocument/2006/relationships/image"/><Relationship Id="rId4" Target="../media/image92.png" Type="http://schemas.openxmlformats.org/officeDocument/2006/relationships/image"/><Relationship Id="rId5" Target="../media/image93.svg" Type="http://schemas.openxmlformats.org/officeDocument/2006/relationships/image"/><Relationship Id="rId6" Target="../media/image94.png" Type="http://schemas.openxmlformats.org/officeDocument/2006/relationships/image"/><Relationship Id="rId7" Target="../media/image9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0122" y="1784292"/>
            <a:ext cx="12295268" cy="1580926"/>
          </a:xfrm>
          <a:custGeom>
            <a:avLst/>
            <a:gdLst/>
            <a:ahLst/>
            <a:cxnLst/>
            <a:rect r="r" b="b" t="t" l="l"/>
            <a:pathLst>
              <a:path h="1580926" w="12295268">
                <a:moveTo>
                  <a:pt x="0" y="0"/>
                </a:moveTo>
                <a:lnTo>
                  <a:pt x="12295268" y="0"/>
                </a:lnTo>
                <a:lnTo>
                  <a:pt x="12295268" y="1580926"/>
                </a:lnTo>
                <a:lnTo>
                  <a:pt x="0" y="15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6051" y="5156840"/>
            <a:ext cx="7614383" cy="7614383"/>
          </a:xfrm>
          <a:custGeom>
            <a:avLst/>
            <a:gdLst/>
            <a:ahLst/>
            <a:cxnLst/>
            <a:rect r="r" b="b" t="t" l="l"/>
            <a:pathLst>
              <a:path h="7614383" w="7614383">
                <a:moveTo>
                  <a:pt x="0" y="0"/>
                </a:moveTo>
                <a:lnTo>
                  <a:pt x="7614383" y="0"/>
                </a:lnTo>
                <a:lnTo>
                  <a:pt x="7614383" y="7614383"/>
                </a:lnTo>
                <a:lnTo>
                  <a:pt x="0" y="761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1903" y="225087"/>
            <a:ext cx="15494106" cy="295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8"/>
              </a:lnSpc>
            </a:pPr>
            <a:r>
              <a:rPr lang="en-US" sz="847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NeuroFleetX AI-Driven Urban</a:t>
            </a:r>
          </a:p>
          <a:p>
            <a:pPr algn="ctr">
              <a:lnSpc>
                <a:spcPts val="11868"/>
              </a:lnSpc>
            </a:pPr>
            <a:r>
              <a:rPr lang="en-US" sz="8477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Mobility Optimization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66532" y="7281273"/>
            <a:ext cx="3877159" cy="2330533"/>
            <a:chOff x="0" y="0"/>
            <a:chExt cx="5169545" cy="31073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9535" cy="3107436"/>
            </a:xfrm>
            <a:custGeom>
              <a:avLst/>
              <a:gdLst/>
              <a:ahLst/>
              <a:cxnLst/>
              <a:rect r="r" b="b" t="t" l="l"/>
              <a:pathLst>
                <a:path h="3107436" w="5169535">
                  <a:moveTo>
                    <a:pt x="0" y="0"/>
                  </a:moveTo>
                  <a:lnTo>
                    <a:pt x="5169535" y="0"/>
                  </a:lnTo>
                  <a:lnTo>
                    <a:pt x="5169535" y="3107436"/>
                  </a:lnTo>
                  <a:lnTo>
                    <a:pt x="0" y="310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34233" y="3504474"/>
            <a:ext cx="13467046" cy="42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0"/>
              </a:lnSpc>
            </a:pPr>
            <a:r>
              <a:rPr lang="en-US" sz="23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Infosys Springboard - Internship 6.0 </a:t>
            </a:r>
            <a:r>
              <a:rPr lang="en-US" sz="23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 Batch 1 )</a:t>
            </a:r>
            <a:r>
              <a:rPr lang="en-US" sz="23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526" y="6441803"/>
            <a:ext cx="4394746" cy="1232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B14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B146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Anurag Tiwari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8933" y="2013245"/>
            <a:ext cx="12304638" cy="97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0"/>
              </a:lnSpc>
            </a:pPr>
            <a:r>
              <a:rPr lang="en-US" sz="516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Definition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2688" y="3701670"/>
            <a:ext cx="14477127" cy="6074221"/>
          </a:xfrm>
          <a:custGeom>
            <a:avLst/>
            <a:gdLst/>
            <a:ahLst/>
            <a:cxnLst/>
            <a:rect r="r" b="b" t="t" l="l"/>
            <a:pathLst>
              <a:path h="6074221" w="14477127">
                <a:moveTo>
                  <a:pt x="0" y="0"/>
                </a:moveTo>
                <a:lnTo>
                  <a:pt x="14477127" y="0"/>
                </a:lnTo>
                <a:lnTo>
                  <a:pt x="14477127" y="6074221"/>
                </a:lnTo>
                <a:lnTo>
                  <a:pt x="0" y="6074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4218" y="4367711"/>
            <a:ext cx="14295596" cy="499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 Rapid urbanization has led to severe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traffic congestion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pollution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inefficient public transport systems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Commuters face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long waiting times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unpredictable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delays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route management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Fleet operators struggle with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operational costs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maintenance issues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fuel inefficiency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07748" indent="-269249" lvl="2">
              <a:lnSpc>
                <a:spcPts val="4947"/>
              </a:lnSpc>
              <a:buFont typeface="Arial"/>
              <a:buChar char="⚬"/>
            </a:pP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Lack of real-time adaptive solutions to handle </a:t>
            </a:r>
            <a:r>
              <a:rPr lang="en-US" b="true" sz="3533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traffic conditions</a:t>
            </a:r>
            <a:r>
              <a:rPr lang="en-US" sz="3533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214183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50945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408029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755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6136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60491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16405" y="7940678"/>
            <a:ext cx="476779" cy="905277"/>
          </a:xfrm>
          <a:custGeom>
            <a:avLst/>
            <a:gdLst/>
            <a:ahLst/>
            <a:cxnLst/>
            <a:rect r="r" b="b" t="t" l="l"/>
            <a:pathLst>
              <a:path h="905277" w="476779">
                <a:moveTo>
                  <a:pt x="0" y="0"/>
                </a:moveTo>
                <a:lnTo>
                  <a:pt x="476779" y="0"/>
                </a:lnTo>
                <a:lnTo>
                  <a:pt x="476779" y="905277"/>
                </a:lnTo>
                <a:lnTo>
                  <a:pt x="0" y="9052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35" t="0" r="-43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18376" y="7940678"/>
            <a:ext cx="625187" cy="848670"/>
          </a:xfrm>
          <a:custGeom>
            <a:avLst/>
            <a:gdLst/>
            <a:ahLst/>
            <a:cxnLst/>
            <a:rect r="r" b="b" t="t" l="l"/>
            <a:pathLst>
              <a:path h="848670" w="625187">
                <a:moveTo>
                  <a:pt x="0" y="0"/>
                </a:moveTo>
                <a:lnTo>
                  <a:pt x="625187" y="0"/>
                </a:lnTo>
                <a:lnTo>
                  <a:pt x="625187" y="848670"/>
                </a:lnTo>
                <a:lnTo>
                  <a:pt x="0" y="848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27" r="0" b="-22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25022" y="7940678"/>
            <a:ext cx="605577" cy="831455"/>
          </a:xfrm>
          <a:custGeom>
            <a:avLst/>
            <a:gdLst/>
            <a:ahLst/>
            <a:cxnLst/>
            <a:rect r="r" b="b" t="t" l="l"/>
            <a:pathLst>
              <a:path h="831455" w="605577">
                <a:moveTo>
                  <a:pt x="0" y="0"/>
                </a:moveTo>
                <a:lnTo>
                  <a:pt x="605577" y="0"/>
                </a:lnTo>
                <a:lnTo>
                  <a:pt x="605577" y="831455"/>
                </a:lnTo>
                <a:lnTo>
                  <a:pt x="0" y="8314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72" r="0" b="-7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5565" y="3913819"/>
            <a:ext cx="2209249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Authentication &amp; Role 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5498" y="3828684"/>
            <a:ext cx="2037669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Inventory &amp; Vehicle Telemetry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23852" y="4047157"/>
            <a:ext cx="2488051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Route &amp; Load Optimization Engine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9292" y="4847390"/>
            <a:ext cx="2991511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Secure JWT-based login with role-based access for Admin, Fleet Manager, Driver, and Customer. Ensures data privacy, controlled access, and smooth onboarding.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0072" y="4847390"/>
            <a:ext cx="288179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Centralized fleet database with real-time telemetry — tracks engine, fuel, tire, and battery metrics for performance monitoring and anomaly detection.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594" y="4847390"/>
            <a:ext cx="2938432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Optimizes routes using Dijkstra’s algorithm and ML-based ETA prediction. Balances loads, reduces travel time, and adapts to traffic and weather via Maps API integration.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28918" y="1094142"/>
            <a:ext cx="7794933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Module Specifications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214183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509454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7408029" y="3173529"/>
            <a:ext cx="3636712" cy="6390388"/>
          </a:xfrm>
          <a:custGeom>
            <a:avLst/>
            <a:gdLst/>
            <a:ahLst/>
            <a:cxnLst/>
            <a:rect r="r" b="b" t="t" l="l"/>
            <a:pathLst>
              <a:path h="6390388" w="3636712">
                <a:moveTo>
                  <a:pt x="0" y="6390388"/>
                </a:moveTo>
                <a:lnTo>
                  <a:pt x="3636712" y="6390388"/>
                </a:lnTo>
                <a:lnTo>
                  <a:pt x="3636712" y="0"/>
                </a:lnTo>
                <a:lnTo>
                  <a:pt x="0" y="0"/>
                </a:lnTo>
                <a:lnTo>
                  <a:pt x="0" y="639038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6" r="0" b="-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7755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61363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23513" y="3913819"/>
            <a:ext cx="2473353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Predictive Maintenance &amp; Health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39261" y="3913819"/>
            <a:ext cx="2832606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Booking &amp; Smart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3851" y="3618544"/>
            <a:ext cx="2488051" cy="109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Ow</a:t>
            </a: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ner Dashboard &amp; Urban Mobility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1084" y="4866793"/>
            <a:ext cx="3258211" cy="217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35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Forecasts failures using telemetry data. Visual dashboards show health status (Healthy, Due, Critical) for proactive, data-driven maintenance.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90072" y="4847390"/>
            <a:ext cx="2881796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Enables quick ride/delivery booking with AI-powered suggestions for best cost and time options. Ensures transparency and personalized experience.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8594" y="4847390"/>
            <a:ext cx="2938432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Real-time analytics with heatmaps, fleet utilization stats, and mobility trend forecasts. Supports PDF/CSV exports for strategic decisions.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28918" y="1094142"/>
            <a:ext cx="7794933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Module Specifications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604040" y="7892902"/>
            <a:ext cx="712300" cy="794386"/>
          </a:xfrm>
          <a:custGeom>
            <a:avLst/>
            <a:gdLst/>
            <a:ahLst/>
            <a:cxnLst/>
            <a:rect r="r" b="b" t="t" l="l"/>
            <a:pathLst>
              <a:path h="794386" w="712300">
                <a:moveTo>
                  <a:pt x="0" y="0"/>
                </a:moveTo>
                <a:lnTo>
                  <a:pt x="712300" y="0"/>
                </a:lnTo>
                <a:lnTo>
                  <a:pt x="712300" y="794386"/>
                </a:lnTo>
                <a:lnTo>
                  <a:pt x="0" y="794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13" r="0" b="-21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55594" y="7892902"/>
            <a:ext cx="587846" cy="794386"/>
          </a:xfrm>
          <a:custGeom>
            <a:avLst/>
            <a:gdLst/>
            <a:ahLst/>
            <a:cxnLst/>
            <a:rect r="r" b="b" t="t" l="l"/>
            <a:pathLst>
              <a:path h="794386" w="587846">
                <a:moveTo>
                  <a:pt x="0" y="0"/>
                </a:moveTo>
                <a:lnTo>
                  <a:pt x="587846" y="0"/>
                </a:lnTo>
                <a:lnTo>
                  <a:pt x="587846" y="794386"/>
                </a:lnTo>
                <a:lnTo>
                  <a:pt x="0" y="794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29" r="0" b="-12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22972" y="7903978"/>
            <a:ext cx="609676" cy="783310"/>
          </a:xfrm>
          <a:custGeom>
            <a:avLst/>
            <a:gdLst/>
            <a:ahLst/>
            <a:cxnLst/>
            <a:rect r="r" b="b" t="t" l="l"/>
            <a:pathLst>
              <a:path h="783310" w="609676">
                <a:moveTo>
                  <a:pt x="0" y="0"/>
                </a:moveTo>
                <a:lnTo>
                  <a:pt x="609676" y="0"/>
                </a:lnTo>
                <a:lnTo>
                  <a:pt x="609676" y="783310"/>
                </a:lnTo>
                <a:lnTo>
                  <a:pt x="0" y="7833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08" t="0" r="-308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9815" y="5143500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07" r="0" b="-60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2880">
            <a:off x="1048590" y="2821104"/>
            <a:ext cx="16288446" cy="4499683"/>
            <a:chOff x="0" y="0"/>
            <a:chExt cx="21717928" cy="59995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17888" cy="5999607"/>
            </a:xfrm>
            <a:custGeom>
              <a:avLst/>
              <a:gdLst/>
              <a:ahLst/>
              <a:cxnLst/>
              <a:rect r="r" b="b" t="t" l="l"/>
              <a:pathLst>
                <a:path h="5999607" w="21717888">
                  <a:moveTo>
                    <a:pt x="0" y="0"/>
                  </a:moveTo>
                  <a:lnTo>
                    <a:pt x="21717888" y="0"/>
                  </a:lnTo>
                  <a:lnTo>
                    <a:pt x="21717888" y="5999607"/>
                  </a:lnTo>
                  <a:lnTo>
                    <a:pt x="0" y="5999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8" r="0" b="-6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42270" y="4275517"/>
            <a:ext cx="9582403" cy="204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3"/>
              </a:lnSpc>
            </a:pPr>
            <a:r>
              <a:rPr lang="en-US" sz="840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Detailed Module Specification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59268" y="1028700"/>
            <a:ext cx="5134665" cy="3593662"/>
            <a:chOff x="0" y="0"/>
            <a:chExt cx="6846220" cy="479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46189" cy="4791583"/>
            </a:xfrm>
            <a:custGeom>
              <a:avLst/>
              <a:gdLst/>
              <a:ahLst/>
              <a:cxnLst/>
              <a:rect r="r" b="b" t="t" l="l"/>
              <a:pathLst>
                <a:path h="4791583" w="6846189">
                  <a:moveTo>
                    <a:pt x="0" y="0"/>
                  </a:moveTo>
                  <a:lnTo>
                    <a:pt x="6846189" y="0"/>
                  </a:lnTo>
                  <a:lnTo>
                    <a:pt x="6846189" y="4791583"/>
                  </a:lnTo>
                  <a:lnTo>
                    <a:pt x="0" y="4791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429" t="0" r="-174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59268" y="4891493"/>
            <a:ext cx="5134665" cy="4964656"/>
            <a:chOff x="0" y="0"/>
            <a:chExt cx="6846220" cy="66195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46189" cy="6619494"/>
            </a:xfrm>
            <a:custGeom>
              <a:avLst/>
              <a:gdLst/>
              <a:ahLst/>
              <a:cxnLst/>
              <a:rect r="r" b="b" t="t" l="l"/>
              <a:pathLst>
                <a:path h="6619494" w="6846189">
                  <a:moveTo>
                    <a:pt x="0" y="0"/>
                  </a:moveTo>
                  <a:lnTo>
                    <a:pt x="6846189" y="0"/>
                  </a:lnTo>
                  <a:lnTo>
                    <a:pt x="6846189" y="6619494"/>
                  </a:lnTo>
                  <a:lnTo>
                    <a:pt x="0" y="661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359" t="0" r="-4236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00009" y="1858316"/>
            <a:ext cx="8378664" cy="4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34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Authentication &amp; Role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0009" y="3378098"/>
            <a:ext cx="9237745" cy="38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54" indent="-230351" lvl="2">
              <a:lnSpc>
                <a:spcPts val="3022"/>
              </a:lnSpc>
              <a:buFont typeface="Arial"/>
              <a:buChar char="⚬"/>
            </a:pPr>
            <a:r>
              <a:rPr lang="en-US" b="true" sz="30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Secure user access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through JWT-based authentication and role-based authorization. </a:t>
            </a:r>
          </a:p>
          <a:p>
            <a:pPr algn="l" marL="691054" indent="-230351" lvl="2">
              <a:lnSpc>
                <a:spcPts val="3022"/>
              </a:lnSpc>
            </a:pPr>
          </a:p>
          <a:p>
            <a:pPr algn="l" marL="691054" indent="-230351" lvl="2">
              <a:lnSpc>
                <a:spcPts val="3022"/>
              </a:lnSpc>
              <a:buFont typeface="Arial"/>
              <a:buChar char="⚬"/>
            </a:pPr>
            <a:r>
              <a:rPr lang="en-US" b="true" sz="30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multiple user roles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— Fleet Manager, Driver, and Customer — each with tailored dashboards and permissions.</a:t>
            </a:r>
          </a:p>
          <a:p>
            <a:pPr algn="l" marL="691054" indent="-230351" lvl="2">
              <a:lnSpc>
                <a:spcPts val="3022"/>
              </a:lnSpc>
            </a:pP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691054" indent="-230351" lvl="2">
              <a:lnSpc>
                <a:spcPts val="3022"/>
              </a:lnSpc>
              <a:buFont typeface="Arial"/>
              <a:buChar char="⚬"/>
            </a:pPr>
            <a:r>
              <a:rPr lang="en-US" b="true" sz="30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Ensures data privacy</a:t>
            </a:r>
            <a:r>
              <a:rPr lang="en-US" sz="30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controlled access, and streamlined user onboarding.</a:t>
            </a:r>
          </a:p>
          <a:p>
            <a:pPr algn="l" marL="691054" indent="-230351" lvl="2">
              <a:lnSpc>
                <a:spcPts val="302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0972" y="5558052"/>
            <a:ext cx="7810551" cy="3700248"/>
            <a:chOff x="0" y="0"/>
            <a:chExt cx="10414068" cy="49336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14127" cy="4933696"/>
            </a:xfrm>
            <a:custGeom>
              <a:avLst/>
              <a:gdLst/>
              <a:ahLst/>
              <a:cxnLst/>
              <a:rect r="r" b="b" t="t" l="l"/>
              <a:pathLst>
                <a:path h="4933696" w="10414127">
                  <a:moveTo>
                    <a:pt x="0" y="0"/>
                  </a:moveTo>
                  <a:lnTo>
                    <a:pt x="10414127" y="0"/>
                  </a:lnTo>
                  <a:lnTo>
                    <a:pt x="10414127" y="4933696"/>
                  </a:lnTo>
                  <a:lnTo>
                    <a:pt x="0" y="4933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0" r="0" b="-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40972" y="858931"/>
            <a:ext cx="7810551" cy="4081013"/>
            <a:chOff x="0" y="0"/>
            <a:chExt cx="10414068" cy="54413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127" cy="5441315"/>
            </a:xfrm>
            <a:custGeom>
              <a:avLst/>
              <a:gdLst/>
              <a:ahLst/>
              <a:cxnLst/>
              <a:rect r="r" b="b" t="t" l="l"/>
              <a:pathLst>
                <a:path h="5441315" w="10414127">
                  <a:moveTo>
                    <a:pt x="0" y="0"/>
                  </a:moveTo>
                  <a:lnTo>
                    <a:pt x="10414127" y="0"/>
                  </a:lnTo>
                  <a:lnTo>
                    <a:pt x="10414127" y="5441315"/>
                  </a:lnTo>
                  <a:lnTo>
                    <a:pt x="0" y="5441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9" r="0" b="-9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34803" y="2273572"/>
            <a:ext cx="8307168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Inventory &amp; Vehicle Telemetry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167" y="4185254"/>
            <a:ext cx="7790441" cy="349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750" indent="-209917" lvl="2">
              <a:lnSpc>
                <a:spcPts val="2754"/>
              </a:lnSpc>
              <a:buFont typeface="Arial"/>
              <a:buChar char="⚬"/>
            </a:pPr>
            <a:r>
              <a:rPr lang="en-US" b="true" sz="27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Fleet Inventory:</a:t>
            </a:r>
            <a:r>
              <a:rPr lang="en-US" sz="2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View all vehicles, drivers, and passenger capacity.</a:t>
            </a:r>
          </a:p>
          <a:p>
            <a:pPr algn="l" marL="629750" indent="-209917" lvl="2">
              <a:lnSpc>
                <a:spcPts val="2754"/>
              </a:lnSpc>
            </a:pPr>
          </a:p>
          <a:p>
            <a:pPr algn="l" marL="629750" indent="-209917" lvl="2">
              <a:lnSpc>
                <a:spcPts val="2754"/>
              </a:lnSpc>
              <a:buFont typeface="Arial"/>
              <a:buChar char="⚬"/>
            </a:pPr>
            <a:r>
              <a:rPr lang="en-US" b="true" sz="27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Location Tracking:</a:t>
            </a:r>
            <a:r>
              <a:rPr lang="en-US" sz="2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See where every vehicle is at a glance.</a:t>
            </a:r>
          </a:p>
          <a:p>
            <a:pPr algn="l" marL="629750" indent="-209917" lvl="2">
              <a:lnSpc>
                <a:spcPts val="2754"/>
              </a:lnSpc>
            </a:pPr>
          </a:p>
          <a:p>
            <a:pPr algn="l" marL="629750" indent="-209917" lvl="2">
              <a:lnSpc>
                <a:spcPts val="2754"/>
              </a:lnSpc>
              <a:buFont typeface="Arial"/>
              <a:buChar char="⚬"/>
            </a:pPr>
            <a:r>
              <a:rPr lang="en-US" b="true" sz="27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Informed Dispatch:</a:t>
            </a:r>
            <a:r>
              <a:rPr lang="en-US" sz="2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Quickly assign the right vehicle based on proximity and capacity.</a:t>
            </a:r>
          </a:p>
          <a:p>
            <a:pPr algn="l" marL="629750" indent="-209917" lvl="2">
              <a:lnSpc>
                <a:spcPts val="275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6021" y="287390"/>
            <a:ext cx="8636550" cy="4379605"/>
            <a:chOff x="0" y="0"/>
            <a:chExt cx="11515400" cy="58394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15344" cy="5839460"/>
            </a:xfrm>
            <a:custGeom>
              <a:avLst/>
              <a:gdLst/>
              <a:ahLst/>
              <a:cxnLst/>
              <a:rect r="r" b="b" t="t" l="l"/>
              <a:pathLst>
                <a:path h="5839460" w="11515344">
                  <a:moveTo>
                    <a:pt x="0" y="0"/>
                  </a:moveTo>
                  <a:lnTo>
                    <a:pt x="11515344" y="0"/>
                  </a:lnTo>
                  <a:lnTo>
                    <a:pt x="11515344" y="5839460"/>
                  </a:lnTo>
                  <a:lnTo>
                    <a:pt x="0" y="583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81" r="0" b="-23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43717" y="7655370"/>
            <a:ext cx="7497927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Route &amp; Load Optimization </a:t>
            </a:r>
          </a:p>
          <a:p>
            <a:pPr algn="l">
              <a:lnSpc>
                <a:spcPts val="3500"/>
              </a:lnSpc>
            </a:pPr>
            <a:r>
              <a:rPr lang="en-US" sz="3500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836600" y="287390"/>
            <a:ext cx="4163808" cy="6356958"/>
            <a:chOff x="0" y="0"/>
            <a:chExt cx="5551744" cy="8475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51805" cy="8475980"/>
            </a:xfrm>
            <a:custGeom>
              <a:avLst/>
              <a:gdLst/>
              <a:ahLst/>
              <a:cxnLst/>
              <a:rect r="r" b="b" t="t" l="l"/>
              <a:pathLst>
                <a:path h="8475980" w="5551805">
                  <a:moveTo>
                    <a:pt x="0" y="0"/>
                  </a:moveTo>
                  <a:lnTo>
                    <a:pt x="5551805" y="0"/>
                  </a:lnTo>
                  <a:lnTo>
                    <a:pt x="5551805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t="0" r="-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646005" y="5048250"/>
            <a:ext cx="8056584" cy="443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269" indent="-175423" lvl="2">
              <a:lnSpc>
                <a:spcPts val="3223"/>
              </a:lnSpc>
              <a:buFont typeface="Arial"/>
              <a:buChar char="⚬"/>
            </a:pPr>
            <a:r>
              <a:rPr lang="en-US" b="true" sz="23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Route Suggestions:</a:t>
            </a: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Receives intelligent, conversational recommendations for the fastest route based on real-time and historical traffic data.</a:t>
            </a:r>
          </a:p>
          <a:p>
            <a:pPr algn="l" marL="526269" indent="-175423" lvl="2">
              <a:lnSpc>
                <a:spcPts val="3223"/>
              </a:lnSpc>
            </a:pPr>
          </a:p>
          <a:p>
            <a:pPr algn="l" marL="526269" indent="-175423" lvl="2">
              <a:lnSpc>
                <a:spcPts val="3223"/>
              </a:lnSpc>
              <a:buFont typeface="Arial"/>
              <a:buChar char="⚬"/>
            </a:pPr>
            <a:r>
              <a:rPr lang="en-US" b="true" sz="23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Multi-Route Comparison: </a:t>
            </a: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Presents multiple route options with clear ETAs, distances, and live traffic status (e.g., "All Clear," "Busy").</a:t>
            </a:r>
          </a:p>
          <a:p>
            <a:pPr algn="l" marL="526269" indent="-175423" lvl="2">
              <a:lnSpc>
                <a:spcPts val="3223"/>
              </a:lnSpc>
            </a:pPr>
          </a:p>
          <a:p>
            <a:pPr algn="l" marL="526269" indent="-175423" lvl="2">
              <a:lnSpc>
                <a:spcPts val="3223"/>
              </a:lnSpc>
              <a:buFont typeface="Arial"/>
              <a:buChar char="⚬"/>
            </a:pPr>
            <a:r>
              <a:rPr lang="en-US" b="true" sz="23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Interactive Traffic Visualization:</a:t>
            </a: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Features a "Traffic Heatmap" to give users a visual overview of congestion before they book.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82542" y="459654"/>
            <a:ext cx="5779660" cy="4983838"/>
            <a:chOff x="0" y="0"/>
            <a:chExt cx="7706213" cy="6645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06233" cy="6645148"/>
            </a:xfrm>
            <a:custGeom>
              <a:avLst/>
              <a:gdLst/>
              <a:ahLst/>
              <a:cxnLst/>
              <a:rect r="r" b="b" t="t" l="l"/>
              <a:pathLst>
                <a:path h="6645148" w="7706233">
                  <a:moveTo>
                    <a:pt x="0" y="0"/>
                  </a:moveTo>
                  <a:lnTo>
                    <a:pt x="7706233" y="0"/>
                  </a:lnTo>
                  <a:lnTo>
                    <a:pt x="7706233" y="6645148"/>
                  </a:lnTo>
                  <a:lnTo>
                    <a:pt x="0" y="664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62331" y="459654"/>
            <a:ext cx="6265268" cy="3347349"/>
            <a:chOff x="0" y="0"/>
            <a:chExt cx="8353691" cy="44631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53679" cy="4463161"/>
            </a:xfrm>
            <a:custGeom>
              <a:avLst/>
              <a:gdLst/>
              <a:ahLst/>
              <a:cxnLst/>
              <a:rect r="r" b="b" t="t" l="l"/>
              <a:pathLst>
                <a:path h="4463161" w="8353679">
                  <a:moveTo>
                    <a:pt x="0" y="0"/>
                  </a:moveTo>
                  <a:lnTo>
                    <a:pt x="8353679" y="0"/>
                  </a:lnTo>
                  <a:lnTo>
                    <a:pt x="8353679" y="4463161"/>
                  </a:lnTo>
                  <a:lnTo>
                    <a:pt x="0" y="446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575" y="2452051"/>
            <a:ext cx="4097381" cy="17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Advanced Booking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</a:t>
            </a:r>
          </a:p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Scheduled Rides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42861" y="5892408"/>
            <a:ext cx="6119341" cy="336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79" indent="-160726" lvl="2">
              <a:lnSpc>
                <a:spcPts val="2952"/>
              </a:lnSpc>
              <a:buFont typeface="Arial"/>
              <a:buChar char="⚬"/>
            </a:pPr>
            <a:r>
              <a:rPr lang="en-US" b="true" sz="21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Flexible Advance Scheduling:</a:t>
            </a:r>
            <a:r>
              <a:rPr lang="en-US" sz="21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Allows users to conveniently book their rides days or weeks in advance by selecting their pickup, destination, date, and time.</a:t>
            </a:r>
          </a:p>
          <a:p>
            <a:pPr algn="l" marL="482179" indent="-160726" lvl="2">
              <a:lnSpc>
                <a:spcPts val="2952"/>
              </a:lnSpc>
            </a:pPr>
          </a:p>
          <a:p>
            <a:pPr algn="l" marL="482179" indent="-160726" lvl="2">
              <a:lnSpc>
                <a:spcPts val="2952"/>
              </a:lnSpc>
              <a:buFont typeface="Arial"/>
              <a:buChar char="⚬"/>
            </a:pPr>
            <a:r>
              <a:rPr lang="en-US" b="true" sz="21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Trip Management:</a:t>
            </a:r>
            <a:r>
              <a:rPr lang="en-US" sz="21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Provides users with a dedicated "Scheduled Rides" section to easily view and manage all their upcoming journeys in one place.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662331" y="4285615"/>
            <a:ext cx="6124326" cy="3406829"/>
            <a:chOff x="0" y="0"/>
            <a:chExt cx="8165768" cy="45424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65719" cy="4542409"/>
            </a:xfrm>
            <a:custGeom>
              <a:avLst/>
              <a:gdLst/>
              <a:ahLst/>
              <a:cxnLst/>
              <a:rect r="r" b="b" t="t" l="l"/>
              <a:pathLst>
                <a:path h="4542409" w="8165719">
                  <a:moveTo>
                    <a:pt x="0" y="0"/>
                  </a:moveTo>
                  <a:lnTo>
                    <a:pt x="8165719" y="0"/>
                  </a:lnTo>
                  <a:lnTo>
                    <a:pt x="8165719" y="4542409"/>
                  </a:lnTo>
                  <a:lnTo>
                    <a:pt x="0" y="4542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857" t="0" r="-10858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61533" y="1082011"/>
            <a:ext cx="4724653" cy="3265332"/>
            <a:chOff x="0" y="0"/>
            <a:chExt cx="6299537" cy="435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99581" cy="4353814"/>
            </a:xfrm>
            <a:custGeom>
              <a:avLst/>
              <a:gdLst/>
              <a:ahLst/>
              <a:cxnLst/>
              <a:rect r="r" b="b" t="t" l="l"/>
              <a:pathLst>
                <a:path h="4353814" w="6299581">
                  <a:moveTo>
                    <a:pt x="0" y="0"/>
                  </a:moveTo>
                  <a:lnTo>
                    <a:pt x="6299581" y="0"/>
                  </a:lnTo>
                  <a:lnTo>
                    <a:pt x="6299581" y="4353814"/>
                  </a:lnTo>
                  <a:lnTo>
                    <a:pt x="0" y="4353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40732" y="285854"/>
            <a:ext cx="3925089" cy="4857646"/>
            <a:chOff x="0" y="0"/>
            <a:chExt cx="5233452" cy="64768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33416" cy="6476873"/>
            </a:xfrm>
            <a:custGeom>
              <a:avLst/>
              <a:gdLst/>
              <a:ahLst/>
              <a:cxnLst/>
              <a:rect r="r" b="b" t="t" l="l"/>
              <a:pathLst>
                <a:path h="6476873" w="5233416">
                  <a:moveTo>
                    <a:pt x="0" y="0"/>
                  </a:moveTo>
                  <a:lnTo>
                    <a:pt x="5233416" y="0"/>
                  </a:lnTo>
                  <a:lnTo>
                    <a:pt x="5233416" y="6476873"/>
                  </a:lnTo>
                  <a:lnTo>
                    <a:pt x="0" y="6476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0" b="-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16345" y="5434854"/>
            <a:ext cx="4173864" cy="3823446"/>
            <a:chOff x="0" y="0"/>
            <a:chExt cx="5565152" cy="5097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65140" cy="5097907"/>
            </a:xfrm>
            <a:custGeom>
              <a:avLst/>
              <a:gdLst/>
              <a:ahLst/>
              <a:cxnLst/>
              <a:rect r="r" b="b" t="t" l="l"/>
              <a:pathLst>
                <a:path h="5097907" w="5565140">
                  <a:moveTo>
                    <a:pt x="0" y="0"/>
                  </a:moveTo>
                  <a:lnTo>
                    <a:pt x="5565140" y="0"/>
                  </a:lnTo>
                  <a:lnTo>
                    <a:pt x="5565140" y="5097907"/>
                  </a:lnTo>
                  <a:lnTo>
                    <a:pt x="0" y="509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880" t="0" r="-1488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624311" y="2620985"/>
            <a:ext cx="778296" cy="502355"/>
          </a:xfrm>
          <a:custGeom>
            <a:avLst/>
            <a:gdLst/>
            <a:ahLst/>
            <a:cxnLst/>
            <a:rect r="r" b="b" t="t" l="l"/>
            <a:pathLst>
              <a:path h="502355" w="778296">
                <a:moveTo>
                  <a:pt x="0" y="0"/>
                </a:moveTo>
                <a:lnTo>
                  <a:pt x="778296" y="0"/>
                </a:lnTo>
                <a:lnTo>
                  <a:pt x="778296" y="502355"/>
                </a:lnTo>
                <a:lnTo>
                  <a:pt x="0" y="502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61533" y="5622315"/>
            <a:ext cx="4724653" cy="3382884"/>
            <a:chOff x="0" y="0"/>
            <a:chExt cx="6299537" cy="45105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99581" cy="4510532"/>
            </a:xfrm>
            <a:custGeom>
              <a:avLst/>
              <a:gdLst/>
              <a:ahLst/>
              <a:cxnLst/>
              <a:rect r="r" b="b" t="t" l="l"/>
              <a:pathLst>
                <a:path h="4510532" w="6299581">
                  <a:moveTo>
                    <a:pt x="0" y="0"/>
                  </a:moveTo>
                  <a:lnTo>
                    <a:pt x="6299581" y="0"/>
                  </a:lnTo>
                  <a:lnTo>
                    <a:pt x="6299581" y="4510532"/>
                  </a:lnTo>
                  <a:lnTo>
                    <a:pt x="0" y="4510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562117" y="6811402"/>
            <a:ext cx="778296" cy="502355"/>
          </a:xfrm>
          <a:custGeom>
            <a:avLst/>
            <a:gdLst/>
            <a:ahLst/>
            <a:cxnLst/>
            <a:rect r="r" b="b" t="t" l="l"/>
            <a:pathLst>
              <a:path h="502355" w="778296">
                <a:moveTo>
                  <a:pt x="0" y="0"/>
                </a:moveTo>
                <a:lnTo>
                  <a:pt x="778296" y="0"/>
                </a:lnTo>
                <a:lnTo>
                  <a:pt x="778296" y="502355"/>
                </a:lnTo>
                <a:lnTo>
                  <a:pt x="0" y="5023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46821" y="1968166"/>
            <a:ext cx="2415181" cy="1493021"/>
          </a:xfrm>
          <a:custGeom>
            <a:avLst/>
            <a:gdLst/>
            <a:ahLst/>
            <a:cxnLst/>
            <a:rect r="r" b="b" t="t" l="l"/>
            <a:pathLst>
              <a:path h="1493021" w="2415181">
                <a:moveTo>
                  <a:pt x="0" y="0"/>
                </a:moveTo>
                <a:lnTo>
                  <a:pt x="2415181" y="0"/>
                </a:lnTo>
                <a:lnTo>
                  <a:pt x="2415181" y="1493021"/>
                </a:lnTo>
                <a:lnTo>
                  <a:pt x="0" y="1493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761232">
            <a:off x="6439859" y="3642401"/>
            <a:ext cx="1124629" cy="642350"/>
          </a:xfrm>
          <a:custGeom>
            <a:avLst/>
            <a:gdLst/>
            <a:ahLst/>
            <a:cxnLst/>
            <a:rect r="r" b="b" t="t" l="l"/>
            <a:pathLst>
              <a:path h="642350" w="1124629">
                <a:moveTo>
                  <a:pt x="0" y="642350"/>
                </a:moveTo>
                <a:lnTo>
                  <a:pt x="1124629" y="642350"/>
                </a:lnTo>
                <a:lnTo>
                  <a:pt x="1124629" y="0"/>
                </a:lnTo>
                <a:lnTo>
                  <a:pt x="0" y="0"/>
                </a:lnTo>
                <a:lnTo>
                  <a:pt x="0" y="64235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2428372"/>
            <a:ext cx="4577597" cy="212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</a:t>
            </a:r>
          </a:p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Booking </a:t>
            </a:r>
          </a:p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</a:t>
            </a:r>
          </a:p>
          <a:p>
            <a:pPr algn="ctr">
              <a:lnSpc>
                <a:spcPts val="3324"/>
              </a:lnSpc>
            </a:pPr>
            <a:r>
              <a:rPr lang="en-US" b="true" sz="3324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Smart Recommendations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77052" y="5604433"/>
            <a:ext cx="4484950" cy="462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080" indent="-154027" lvl="2">
              <a:lnSpc>
                <a:spcPts val="2829"/>
              </a:lnSpc>
              <a:buFont typeface="Arial"/>
              <a:buChar char="⚬"/>
            </a:pPr>
            <a:r>
              <a:rPr lang="en-US" b="true" sz="2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Availability: </a:t>
            </a:r>
            <a:r>
              <a:rPr lang="en-US" sz="20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real-time vehicle status and alternatives.</a:t>
            </a:r>
          </a:p>
          <a:p>
            <a:pPr algn="l" marL="462080" indent="-154027" lvl="2">
              <a:lnSpc>
                <a:spcPts val="2829"/>
              </a:lnSpc>
            </a:pPr>
          </a:p>
          <a:p>
            <a:pPr algn="l" marL="462080" indent="-154027" lvl="2">
              <a:lnSpc>
                <a:spcPts val="2829"/>
              </a:lnSpc>
              <a:buFont typeface="Arial"/>
              <a:buChar char="⚬"/>
            </a:pPr>
            <a:r>
              <a:rPr lang="en-US" b="true" sz="2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Easy Booking Form:</a:t>
            </a:r>
            <a:r>
              <a:rPr lang="en-US" sz="20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Quick input for pickup, destination, and passengers.</a:t>
            </a:r>
          </a:p>
          <a:p>
            <a:pPr algn="l" marL="462080" indent="-154027" lvl="2">
              <a:lnSpc>
                <a:spcPts val="2829"/>
              </a:lnSpc>
            </a:pPr>
          </a:p>
          <a:p>
            <a:pPr algn="l" marL="462080" indent="-154027" lvl="2">
              <a:lnSpc>
                <a:spcPts val="2829"/>
              </a:lnSpc>
              <a:buFont typeface="Arial"/>
              <a:buChar char="⚬"/>
            </a:pPr>
            <a:r>
              <a:rPr lang="en-US" b="true" sz="202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Vehicle Match:</a:t>
            </a:r>
            <a:r>
              <a:rPr lang="en-US" sz="20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Auto-finds suitable vehicles with driver details.</a:t>
            </a:r>
          </a:p>
          <a:p>
            <a:pPr algn="l" marL="462080" indent="-154027" lvl="2">
              <a:lnSpc>
                <a:spcPts val="2829"/>
              </a:lnSpc>
            </a:pPr>
          </a:p>
          <a:p>
            <a:pPr algn="l" marL="462080" indent="-154027" lvl="2">
              <a:lnSpc>
                <a:spcPts val="282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078656" y="2057396"/>
            <a:ext cx="1985206" cy="125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17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Clearly informs the user when no vehicles are available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94352" y="9005199"/>
            <a:ext cx="2079618" cy="1281801"/>
          </a:xfrm>
          <a:custGeom>
            <a:avLst/>
            <a:gdLst/>
            <a:ahLst/>
            <a:cxnLst/>
            <a:rect r="r" b="b" t="t" l="l"/>
            <a:pathLst>
              <a:path h="1281801" w="2079618">
                <a:moveTo>
                  <a:pt x="0" y="0"/>
                </a:moveTo>
                <a:lnTo>
                  <a:pt x="2079618" y="0"/>
                </a:lnTo>
                <a:lnTo>
                  <a:pt x="2079618" y="1281801"/>
                </a:lnTo>
                <a:lnTo>
                  <a:pt x="0" y="1281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" r="0" b="-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51122" y="675964"/>
            <a:ext cx="8808178" cy="4238936"/>
            <a:chOff x="0" y="0"/>
            <a:chExt cx="11744237" cy="56519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44198" cy="5651881"/>
            </a:xfrm>
            <a:custGeom>
              <a:avLst/>
              <a:gdLst/>
              <a:ahLst/>
              <a:cxnLst/>
              <a:rect r="r" b="b" t="t" l="l"/>
              <a:pathLst>
                <a:path h="5651881" w="11744198">
                  <a:moveTo>
                    <a:pt x="0" y="0"/>
                  </a:moveTo>
                  <a:lnTo>
                    <a:pt x="11744198" y="0"/>
                  </a:lnTo>
                  <a:lnTo>
                    <a:pt x="11744198" y="5651881"/>
                  </a:lnTo>
                  <a:lnTo>
                    <a:pt x="0" y="5651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193527" y="5143500"/>
            <a:ext cx="9323368" cy="3629635"/>
            <a:chOff x="0" y="0"/>
            <a:chExt cx="12431157" cy="48395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31141" cy="4839462"/>
            </a:xfrm>
            <a:custGeom>
              <a:avLst/>
              <a:gdLst/>
              <a:ahLst/>
              <a:cxnLst/>
              <a:rect r="r" b="b" t="t" l="l"/>
              <a:pathLst>
                <a:path h="4839462" w="12431141">
                  <a:moveTo>
                    <a:pt x="0" y="0"/>
                  </a:moveTo>
                  <a:lnTo>
                    <a:pt x="12431141" y="0"/>
                  </a:lnTo>
                  <a:lnTo>
                    <a:pt x="12431141" y="4839462"/>
                  </a:lnTo>
                  <a:lnTo>
                    <a:pt x="0" y="4839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088" r="0" b="-908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53911" y="2755502"/>
            <a:ext cx="7639616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3500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Fleet Owner Dashboard &amp; Urban Mobility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14113" y="5600700"/>
            <a:ext cx="5524089" cy="451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725" indent="-140908" lvl="2">
              <a:lnSpc>
                <a:spcPts val="2589"/>
              </a:lnSpc>
              <a:buFont typeface="Arial"/>
              <a:buChar char="⚬"/>
            </a:pPr>
            <a:r>
              <a:rPr lang="en-US" b="true" sz="18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Operations Overview:</a:t>
            </a:r>
            <a:r>
              <a:rPr lang="en-US" sz="18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single dashboard displaying key metrics like Active Rides, Completed Rides, and real-time vehicle positions.</a:t>
            </a:r>
          </a:p>
          <a:p>
            <a:pPr algn="l" marL="422725" indent="-140908" lvl="2">
              <a:lnSpc>
                <a:spcPts val="2589"/>
              </a:lnSpc>
            </a:pPr>
          </a:p>
          <a:p>
            <a:pPr algn="l" marL="422725" indent="-140908" lvl="2">
              <a:lnSpc>
                <a:spcPts val="2589"/>
              </a:lnSpc>
              <a:buFont typeface="Arial"/>
              <a:buChar char="⚬"/>
            </a:pPr>
            <a:r>
              <a:rPr lang="en-US" b="true" sz="18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Proactive Fleet Maintenance Monitoring</a:t>
            </a:r>
            <a:r>
              <a:rPr lang="en-US" sz="18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Provides an at-a-glance maintenance status (Healthy, Due, Critical) to minimize downtime.</a:t>
            </a:r>
          </a:p>
          <a:p>
            <a:pPr algn="l" marL="422725" indent="-140908" lvl="2">
              <a:lnSpc>
                <a:spcPts val="2589"/>
              </a:lnSpc>
            </a:pPr>
          </a:p>
          <a:p>
            <a:pPr algn="l" marL="422725" indent="-140908" lvl="2">
              <a:lnSpc>
                <a:spcPts val="2589"/>
              </a:lnSpc>
              <a:buFont typeface="Arial"/>
              <a:buChar char="⚬"/>
            </a:pPr>
            <a:r>
              <a:rPr lang="en-US" b="true" sz="18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Export Functionality: </a:t>
            </a:r>
            <a:r>
              <a:rPr lang="en-US" sz="18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Enables exporting of ride history, analytics, and reports to CSV and PDF formats for offline analysis and record-keeping.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5518" y="819150"/>
            <a:ext cx="8996965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Goals </a:t>
            </a:r>
          </a:p>
        </p:txBody>
      </p:sp>
      <p:sp>
        <p:nvSpPr>
          <p:cNvPr name="Freeform 3" id="3" descr="a line of squares on a black background"/>
          <p:cNvSpPr/>
          <p:nvPr/>
        </p:nvSpPr>
        <p:spPr>
          <a:xfrm flipH="false" flipV="false" rot="0">
            <a:off x="6721869" y="6435338"/>
            <a:ext cx="4844262" cy="970290"/>
          </a:xfrm>
          <a:custGeom>
            <a:avLst/>
            <a:gdLst/>
            <a:ahLst/>
            <a:cxnLst/>
            <a:rect r="r" b="b" t="t" l="l"/>
            <a:pathLst>
              <a:path h="970290" w="4844262">
                <a:moveTo>
                  <a:pt x="0" y="0"/>
                </a:moveTo>
                <a:lnTo>
                  <a:pt x="4844262" y="0"/>
                </a:lnTo>
                <a:lnTo>
                  <a:pt x="4844262" y="970290"/>
                </a:lnTo>
                <a:lnTo>
                  <a:pt x="0" y="97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4" id="4" descr="a line of squares on a black background"/>
          <p:cNvSpPr/>
          <p:nvPr/>
        </p:nvSpPr>
        <p:spPr>
          <a:xfrm flipH="false" flipV="false" rot="0">
            <a:off x="8563377" y="6435338"/>
            <a:ext cx="4844262" cy="970290"/>
          </a:xfrm>
          <a:custGeom>
            <a:avLst/>
            <a:gdLst/>
            <a:ahLst/>
            <a:cxnLst/>
            <a:rect r="r" b="b" t="t" l="l"/>
            <a:pathLst>
              <a:path h="970290" w="4844262">
                <a:moveTo>
                  <a:pt x="0" y="0"/>
                </a:moveTo>
                <a:lnTo>
                  <a:pt x="4844262" y="0"/>
                </a:lnTo>
                <a:lnTo>
                  <a:pt x="4844262" y="970290"/>
                </a:lnTo>
                <a:lnTo>
                  <a:pt x="0" y="97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4" t="0" r="-74" b="0"/>
            </a:stretch>
          </a:blipFill>
        </p:spPr>
      </p:sp>
      <p:sp>
        <p:nvSpPr>
          <p:cNvPr name="Freeform 5" id="5" descr="a black square with white lines on it"/>
          <p:cNvSpPr/>
          <p:nvPr/>
        </p:nvSpPr>
        <p:spPr>
          <a:xfrm flipH="false" flipV="true" rot="0">
            <a:off x="2870208" y="3553966"/>
            <a:ext cx="3851662" cy="3851662"/>
          </a:xfrm>
          <a:custGeom>
            <a:avLst/>
            <a:gdLst/>
            <a:ahLst/>
            <a:cxnLst/>
            <a:rect r="r" b="b" t="t" l="l"/>
            <a:pathLst>
              <a:path h="3851662" w="3851662">
                <a:moveTo>
                  <a:pt x="0" y="3851662"/>
                </a:moveTo>
                <a:lnTo>
                  <a:pt x="3851662" y="3851662"/>
                </a:lnTo>
                <a:lnTo>
                  <a:pt x="3851662" y="0"/>
                </a:lnTo>
                <a:lnTo>
                  <a:pt x="0" y="0"/>
                </a:lnTo>
                <a:lnTo>
                  <a:pt x="0" y="38516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 black square with white lines on it"/>
          <p:cNvSpPr/>
          <p:nvPr/>
        </p:nvSpPr>
        <p:spPr>
          <a:xfrm flipH="true" flipV="false" rot="0">
            <a:off x="13407638" y="6435338"/>
            <a:ext cx="3851662" cy="3851662"/>
          </a:xfrm>
          <a:custGeom>
            <a:avLst/>
            <a:gdLst/>
            <a:ahLst/>
            <a:cxnLst/>
            <a:rect r="r" b="b" t="t" l="l"/>
            <a:pathLst>
              <a:path h="3851662" w="3851662">
                <a:moveTo>
                  <a:pt x="3851662" y="0"/>
                </a:moveTo>
                <a:lnTo>
                  <a:pt x="0" y="0"/>
                </a:lnTo>
                <a:lnTo>
                  <a:pt x="0" y="3851662"/>
                </a:lnTo>
                <a:lnTo>
                  <a:pt x="3851662" y="3851662"/>
                </a:lnTo>
                <a:lnTo>
                  <a:pt x="3851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 black square with white lines on it"/>
          <p:cNvSpPr/>
          <p:nvPr/>
        </p:nvSpPr>
        <p:spPr>
          <a:xfrm flipH="true" flipV="false" rot="0">
            <a:off x="0" y="1409154"/>
            <a:ext cx="3851662" cy="3851662"/>
          </a:xfrm>
          <a:custGeom>
            <a:avLst/>
            <a:gdLst/>
            <a:ahLst/>
            <a:cxnLst/>
            <a:rect r="r" b="b" t="t" l="l"/>
            <a:pathLst>
              <a:path h="3851662" w="3851662">
                <a:moveTo>
                  <a:pt x="3851662" y="0"/>
                </a:moveTo>
                <a:lnTo>
                  <a:pt x="0" y="0"/>
                </a:lnTo>
                <a:lnTo>
                  <a:pt x="0" y="3851662"/>
                </a:lnTo>
                <a:lnTo>
                  <a:pt x="3851662" y="3851662"/>
                </a:lnTo>
                <a:lnTo>
                  <a:pt x="3851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42298" y="5890544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35152" y="5890544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53066" y="5890544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60778">
            <a:off x="-1712500" y="-1399528"/>
            <a:ext cx="2638031" cy="2822796"/>
          </a:xfrm>
          <a:custGeom>
            <a:avLst/>
            <a:gdLst/>
            <a:ahLst/>
            <a:cxnLst/>
            <a:rect r="r" b="b" t="t" l="l"/>
            <a:pathLst>
              <a:path h="2822796" w="2638031">
                <a:moveTo>
                  <a:pt x="0" y="0"/>
                </a:moveTo>
                <a:lnTo>
                  <a:pt x="2638031" y="0"/>
                </a:lnTo>
                <a:lnTo>
                  <a:pt x="2638031" y="2822796"/>
                </a:lnTo>
                <a:lnTo>
                  <a:pt x="0" y="2822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42298" y="907888"/>
            <a:ext cx="1817697" cy="1817697"/>
          </a:xfrm>
          <a:custGeom>
            <a:avLst/>
            <a:gdLst/>
            <a:ahLst/>
            <a:cxnLst/>
            <a:rect r="r" b="b" t="t" l="l"/>
            <a:pathLst>
              <a:path h="1817697" w="1817697">
                <a:moveTo>
                  <a:pt x="0" y="0"/>
                </a:moveTo>
                <a:lnTo>
                  <a:pt x="1817696" y="0"/>
                </a:lnTo>
                <a:lnTo>
                  <a:pt x="1817696" y="1817696"/>
                </a:lnTo>
                <a:lnTo>
                  <a:pt x="0" y="1817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13665" y="568355"/>
            <a:ext cx="1424407" cy="1461611"/>
          </a:xfrm>
          <a:custGeom>
            <a:avLst/>
            <a:gdLst/>
            <a:ahLst/>
            <a:cxnLst/>
            <a:rect r="r" b="b" t="t" l="l"/>
            <a:pathLst>
              <a:path h="1461611" w="1424407">
                <a:moveTo>
                  <a:pt x="0" y="0"/>
                </a:moveTo>
                <a:lnTo>
                  <a:pt x="1424407" y="0"/>
                </a:lnTo>
                <a:lnTo>
                  <a:pt x="1424407" y="1461611"/>
                </a:lnTo>
                <a:lnTo>
                  <a:pt x="0" y="14616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6" r="0" b="-2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31551" y="1439451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38072" y="4159437"/>
            <a:ext cx="464768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Payment Gateway Integration: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21260" y="3839397"/>
            <a:ext cx="4245479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 Mapping &amp; Routing: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2302" y="7863897"/>
            <a:ext cx="3971248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Vehicle Tracking: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09741" y="4637722"/>
            <a:ext cx="404955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Incorporate a </a:t>
            </a: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 provider like Stripe or Razorpay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 to handle fare transactions at the end of a ride.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19220" y="4166189"/>
            <a:ext cx="404955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Integrate a real mapping service like the </a:t>
            </a: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Maps API or Leaflet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 on the frontend to display accurate vehicle positions and calculate real-world driving routes.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8741" y="8304019"/>
            <a:ext cx="414480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 WebSockets 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(using Spring WebSockets and a frontend library like StompJS) to provide live, real-time location updates of vehicles on the map.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67129" y="2646860"/>
            <a:ext cx="3038863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Notification System: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398" y="2987268"/>
            <a:ext cx="2537810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Implement a notification system (e.g., email or push notifications) to </a:t>
            </a:r>
            <a:r>
              <a:rPr lang="en-US" sz="1800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alert users about ride status changes</a:t>
            </a:r>
            <a:r>
              <a:rPr lang="en-US" sz="1800">
                <a:solidFill>
                  <a:srgbClr val="171717"/>
                </a:solidFill>
                <a:latin typeface="Canva Sans"/>
                <a:ea typeface="Canva Sans"/>
                <a:cs typeface="Canva Sans"/>
                <a:sym typeface="Canva Sans"/>
              </a:rPr>
              <a:t>, such as driver assignment and arrival.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031551" y="6435338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24405" y="6435338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0" t="0" r="-4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914926" y="6435338"/>
            <a:ext cx="639189" cy="696147"/>
          </a:xfrm>
          <a:custGeom>
            <a:avLst/>
            <a:gdLst/>
            <a:ahLst/>
            <a:cxnLst/>
            <a:rect r="r" b="b" t="t" l="l"/>
            <a:pathLst>
              <a:path h="696147" w="639189">
                <a:moveTo>
                  <a:pt x="0" y="0"/>
                </a:moveTo>
                <a:lnTo>
                  <a:pt x="639189" y="0"/>
                </a:lnTo>
                <a:lnTo>
                  <a:pt x="639189" y="696147"/>
                </a:lnTo>
                <a:lnTo>
                  <a:pt x="0" y="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0" t="0" r="-4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7720" y="5015509"/>
            <a:ext cx="3172560" cy="2938748"/>
          </a:xfrm>
          <a:custGeom>
            <a:avLst/>
            <a:gdLst/>
            <a:ahLst/>
            <a:cxnLst/>
            <a:rect r="r" b="b" t="t" l="l"/>
            <a:pathLst>
              <a:path h="2938748" w="3172560">
                <a:moveTo>
                  <a:pt x="0" y="0"/>
                </a:moveTo>
                <a:lnTo>
                  <a:pt x="3172560" y="0"/>
                </a:lnTo>
                <a:lnTo>
                  <a:pt x="3172560" y="2938748"/>
                </a:lnTo>
                <a:lnTo>
                  <a:pt x="0" y="293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0105" y="4479081"/>
            <a:ext cx="3167791" cy="862859"/>
          </a:xfrm>
          <a:custGeom>
            <a:avLst/>
            <a:gdLst/>
            <a:ahLst/>
            <a:cxnLst/>
            <a:rect r="r" b="b" t="t" l="l"/>
            <a:pathLst>
              <a:path h="862859" w="3167791">
                <a:moveTo>
                  <a:pt x="0" y="0"/>
                </a:moveTo>
                <a:lnTo>
                  <a:pt x="3167791" y="0"/>
                </a:lnTo>
                <a:lnTo>
                  <a:pt x="3167791" y="862859"/>
                </a:lnTo>
                <a:lnTo>
                  <a:pt x="0" y="86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68699" y="3599341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76732" y="3031832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65753" y="5583019"/>
            <a:ext cx="3172560" cy="2938748"/>
          </a:xfrm>
          <a:custGeom>
            <a:avLst/>
            <a:gdLst/>
            <a:ahLst/>
            <a:cxnLst/>
            <a:rect r="r" b="b" t="t" l="l"/>
            <a:pathLst>
              <a:path h="2938748" w="3172560">
                <a:moveTo>
                  <a:pt x="0" y="0"/>
                </a:moveTo>
                <a:lnTo>
                  <a:pt x="3172560" y="0"/>
                </a:lnTo>
                <a:lnTo>
                  <a:pt x="3172560" y="2938748"/>
                </a:lnTo>
                <a:lnTo>
                  <a:pt x="0" y="293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68138" y="5046591"/>
            <a:ext cx="3167791" cy="862859"/>
          </a:xfrm>
          <a:custGeom>
            <a:avLst/>
            <a:gdLst/>
            <a:ahLst/>
            <a:cxnLst/>
            <a:rect r="r" b="b" t="t" l="l"/>
            <a:pathLst>
              <a:path h="862859" w="3167791">
                <a:moveTo>
                  <a:pt x="0" y="0"/>
                </a:moveTo>
                <a:lnTo>
                  <a:pt x="3167791" y="0"/>
                </a:lnTo>
                <a:lnTo>
                  <a:pt x="3167791" y="862859"/>
                </a:lnTo>
                <a:lnTo>
                  <a:pt x="0" y="8628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84766" y="3599341"/>
            <a:ext cx="1334534" cy="1334534"/>
          </a:xfrm>
          <a:custGeom>
            <a:avLst/>
            <a:gdLst/>
            <a:ahLst/>
            <a:cxnLst/>
            <a:rect r="r" b="b" t="t" l="l"/>
            <a:pathLst>
              <a:path h="1334534" w="1334534">
                <a:moveTo>
                  <a:pt x="0" y="0"/>
                </a:moveTo>
                <a:lnTo>
                  <a:pt x="1334535" y="0"/>
                </a:lnTo>
                <a:lnTo>
                  <a:pt x="1334535" y="1334535"/>
                </a:lnTo>
                <a:lnTo>
                  <a:pt x="0" y="13345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1330355" y="6183557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51614" y="5583019"/>
            <a:ext cx="3172560" cy="2938748"/>
          </a:xfrm>
          <a:custGeom>
            <a:avLst/>
            <a:gdLst/>
            <a:ahLst/>
            <a:cxnLst/>
            <a:rect r="r" b="b" t="t" l="l"/>
            <a:pathLst>
              <a:path h="2938748" w="3172560">
                <a:moveTo>
                  <a:pt x="0" y="0"/>
                </a:moveTo>
                <a:lnTo>
                  <a:pt x="3172560" y="0"/>
                </a:lnTo>
                <a:lnTo>
                  <a:pt x="3172560" y="2938748"/>
                </a:lnTo>
                <a:lnTo>
                  <a:pt x="0" y="293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53999" y="5046591"/>
            <a:ext cx="3167791" cy="862859"/>
          </a:xfrm>
          <a:custGeom>
            <a:avLst/>
            <a:gdLst/>
            <a:ahLst/>
            <a:cxnLst/>
            <a:rect r="r" b="b" t="t" l="l"/>
            <a:pathLst>
              <a:path h="862859" w="3167791">
                <a:moveTo>
                  <a:pt x="0" y="0"/>
                </a:moveTo>
                <a:lnTo>
                  <a:pt x="3167790" y="0"/>
                </a:lnTo>
                <a:lnTo>
                  <a:pt x="3167790" y="862859"/>
                </a:lnTo>
                <a:lnTo>
                  <a:pt x="0" y="8628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6126176" y="6183557"/>
            <a:ext cx="831469" cy="373405"/>
          </a:xfrm>
          <a:custGeom>
            <a:avLst/>
            <a:gdLst/>
            <a:ahLst/>
            <a:cxnLst/>
            <a:rect r="r" b="b" t="t" l="l"/>
            <a:pathLst>
              <a:path h="373405" w="831469">
                <a:moveTo>
                  <a:pt x="0" y="0"/>
                </a:moveTo>
                <a:lnTo>
                  <a:pt x="831469" y="0"/>
                </a:lnTo>
                <a:lnTo>
                  <a:pt x="831469" y="373405"/>
                </a:lnTo>
                <a:lnTo>
                  <a:pt x="0" y="3734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07" r="0" b="-60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61768" y="5318024"/>
            <a:ext cx="2552251" cy="43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3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7079" y="6270247"/>
            <a:ext cx="2861630" cy="186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975" indent="-266658" lvl="2">
              <a:lnSpc>
                <a:spcPts val="4898"/>
              </a:lnSpc>
              <a:buFont typeface="Arial"/>
              <a:buChar char="⚬"/>
            </a:pPr>
            <a:r>
              <a:rPr lang="en-US" b="true" sz="34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React.js</a:t>
            </a:r>
          </a:p>
          <a:p>
            <a:pPr algn="l" marL="799975" indent="-266658" lvl="2">
              <a:lnSpc>
                <a:spcPts val="4898"/>
              </a:lnSpc>
              <a:buFont typeface="Arial"/>
              <a:buChar char="⚬"/>
            </a:pPr>
            <a:r>
              <a:rPr lang="en-US" b="true" sz="34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CSS</a:t>
            </a:r>
          </a:p>
          <a:p>
            <a:pPr algn="l" marL="799975" indent="-266658" lvl="2">
              <a:lnSpc>
                <a:spcPts val="4898"/>
              </a:lnSpc>
            </a:pPr>
          </a:p>
        </p:txBody>
      </p:sp>
      <p:sp>
        <p:nvSpPr>
          <p:cNvPr name="Freeform 15" id="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4376401">
            <a:off x="-646184" y="9243791"/>
            <a:ext cx="2281416" cy="1511438"/>
          </a:xfrm>
          <a:custGeom>
            <a:avLst/>
            <a:gdLst/>
            <a:ahLst/>
            <a:cxnLst/>
            <a:rect r="r" b="b" t="t" l="l"/>
            <a:pathLst>
              <a:path h="1511438" w="2281416">
                <a:moveTo>
                  <a:pt x="0" y="0"/>
                </a:moveTo>
                <a:lnTo>
                  <a:pt x="2281416" y="0"/>
                </a:lnTo>
                <a:lnTo>
                  <a:pt x="2281416" y="1511439"/>
                </a:lnTo>
                <a:lnTo>
                  <a:pt x="0" y="151143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01657" y="642580"/>
            <a:ext cx="857396" cy="1531064"/>
          </a:xfrm>
          <a:custGeom>
            <a:avLst/>
            <a:gdLst/>
            <a:ahLst/>
            <a:cxnLst/>
            <a:rect r="r" b="b" t="t" l="l"/>
            <a:pathLst>
              <a:path h="1531064" w="857396">
                <a:moveTo>
                  <a:pt x="0" y="0"/>
                </a:moveTo>
                <a:lnTo>
                  <a:pt x="857396" y="0"/>
                </a:lnTo>
                <a:lnTo>
                  <a:pt x="857396" y="1531064"/>
                </a:lnTo>
                <a:lnTo>
                  <a:pt x="0" y="15310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465" t="0" r="-46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45534" y="4004165"/>
            <a:ext cx="612999" cy="612999"/>
          </a:xfrm>
          <a:custGeom>
            <a:avLst/>
            <a:gdLst/>
            <a:ahLst/>
            <a:cxnLst/>
            <a:rect r="r" b="b" t="t" l="l"/>
            <a:pathLst>
              <a:path h="612999" w="612999">
                <a:moveTo>
                  <a:pt x="0" y="0"/>
                </a:moveTo>
                <a:lnTo>
                  <a:pt x="612999" y="0"/>
                </a:lnTo>
                <a:lnTo>
                  <a:pt x="612999" y="612999"/>
                </a:lnTo>
                <a:lnTo>
                  <a:pt x="0" y="6129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41401" y="3391166"/>
            <a:ext cx="605197" cy="612999"/>
          </a:xfrm>
          <a:custGeom>
            <a:avLst/>
            <a:gdLst/>
            <a:ahLst/>
            <a:cxnLst/>
            <a:rect r="r" b="b" t="t" l="l"/>
            <a:pathLst>
              <a:path h="612999" w="605197">
                <a:moveTo>
                  <a:pt x="0" y="0"/>
                </a:moveTo>
                <a:lnTo>
                  <a:pt x="605197" y="0"/>
                </a:lnTo>
                <a:lnTo>
                  <a:pt x="605197" y="612999"/>
                </a:lnTo>
                <a:lnTo>
                  <a:pt x="0" y="61299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-134" r="0" b="-13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12092" y="819150"/>
            <a:ext cx="7863816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Tech. Stack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25491" y="4750514"/>
            <a:ext cx="2037017" cy="40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8"/>
              </a:lnSpc>
            </a:pPr>
            <a:r>
              <a:rPr lang="en-US" sz="3598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2222" y="5363721"/>
            <a:ext cx="2743557" cy="233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Java 17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Spring Boot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Spring Security</a:t>
            </a:r>
          </a:p>
          <a:p>
            <a:pPr algn="l" marL="594237" indent="-198079" lvl="2">
              <a:lnSpc>
                <a:spcPts val="3639"/>
              </a:lnSpc>
              <a:buFont typeface="Arial"/>
              <a:buChar char="⚬"/>
            </a:pPr>
            <a:r>
              <a:rPr lang="en-US" b="true" sz="2599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47279" y="5318024"/>
            <a:ext cx="2609509" cy="39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34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66501" y="6255960"/>
            <a:ext cx="2171065" cy="115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1717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Gemini AI 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77053" y="3846922"/>
            <a:ext cx="717828" cy="70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7"/>
              </a:lnSpc>
            </a:pPr>
            <a:r>
              <a:rPr lang="en-US" sz="3776" b="true">
                <a:solidFill>
                  <a:srgbClr val="143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&lt;/&gt;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3618" y="854774"/>
            <a:ext cx="15615917" cy="1646727"/>
          </a:xfrm>
          <a:custGeom>
            <a:avLst/>
            <a:gdLst/>
            <a:ahLst/>
            <a:cxnLst/>
            <a:rect r="r" b="b" t="t" l="l"/>
            <a:pathLst>
              <a:path h="1646727" w="15615917">
                <a:moveTo>
                  <a:pt x="0" y="0"/>
                </a:moveTo>
                <a:lnTo>
                  <a:pt x="15615917" y="0"/>
                </a:lnTo>
                <a:lnTo>
                  <a:pt x="15615917" y="1646727"/>
                </a:lnTo>
                <a:lnTo>
                  <a:pt x="0" y="1646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3618" y="1852064"/>
            <a:ext cx="15615917" cy="7447198"/>
          </a:xfrm>
          <a:custGeom>
            <a:avLst/>
            <a:gdLst/>
            <a:ahLst/>
            <a:cxnLst/>
            <a:rect r="r" b="b" t="t" l="l"/>
            <a:pathLst>
              <a:path h="7447198" w="15615917">
                <a:moveTo>
                  <a:pt x="0" y="0"/>
                </a:moveTo>
                <a:lnTo>
                  <a:pt x="15615917" y="0"/>
                </a:lnTo>
                <a:lnTo>
                  <a:pt x="15615917" y="7447198"/>
                </a:lnTo>
                <a:lnTo>
                  <a:pt x="0" y="7447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60285" y="7061948"/>
            <a:ext cx="568415" cy="3225052"/>
            <a:chOff x="0" y="0"/>
            <a:chExt cx="757887" cy="43000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7936" cy="4300093"/>
            </a:xfrm>
            <a:custGeom>
              <a:avLst/>
              <a:gdLst/>
              <a:ahLst/>
              <a:cxnLst/>
              <a:rect r="r" b="b" t="t" l="l"/>
              <a:pathLst>
                <a:path h="4300093" w="757936">
                  <a:moveTo>
                    <a:pt x="0" y="0"/>
                  </a:moveTo>
                  <a:lnTo>
                    <a:pt x="757936" y="0"/>
                  </a:lnTo>
                  <a:lnTo>
                    <a:pt x="757936" y="4300093"/>
                  </a:lnTo>
                  <a:lnTo>
                    <a:pt x="0" y="4300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000"/>
              </a:blip>
              <a:stretch>
                <a:fillRect l="-62" t="0" r="-56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061278" y="2161120"/>
            <a:ext cx="12161831" cy="6841030"/>
            <a:chOff x="0" y="0"/>
            <a:chExt cx="16215775" cy="91213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15740" cy="9121394"/>
            </a:xfrm>
            <a:custGeom>
              <a:avLst/>
              <a:gdLst/>
              <a:ahLst/>
              <a:cxnLst/>
              <a:rect r="r" b="b" t="t" l="l"/>
              <a:pathLst>
                <a:path h="9121394" w="16215740">
                  <a:moveTo>
                    <a:pt x="0" y="0"/>
                  </a:moveTo>
                  <a:lnTo>
                    <a:pt x="16215740" y="0"/>
                  </a:lnTo>
                  <a:lnTo>
                    <a:pt x="16215740" y="9121394"/>
                  </a:lnTo>
                  <a:lnTo>
                    <a:pt x="0" y="912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199669" y="819150"/>
            <a:ext cx="7863816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Demo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8496" y="6334846"/>
            <a:ext cx="12831284" cy="3207821"/>
          </a:xfrm>
          <a:custGeom>
            <a:avLst/>
            <a:gdLst/>
            <a:ahLst/>
            <a:cxnLst/>
            <a:rect r="r" b="b" t="t" l="l"/>
            <a:pathLst>
              <a:path h="3207821" w="12831284">
                <a:moveTo>
                  <a:pt x="0" y="0"/>
                </a:moveTo>
                <a:lnTo>
                  <a:pt x="12831283" y="0"/>
                </a:lnTo>
                <a:lnTo>
                  <a:pt x="12831283" y="3207821"/>
                </a:lnTo>
                <a:lnTo>
                  <a:pt x="0" y="320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8496" y="2171309"/>
            <a:ext cx="12001570" cy="259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9"/>
              </a:lnSpc>
            </a:pPr>
            <a:r>
              <a:rPr lang="en-US" sz="1371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DAG1G8f6vkw</dc:identifier>
  <dcterms:modified xsi:type="dcterms:W3CDTF">2011-08-01T06:04:30Z</dcterms:modified>
  <cp:revision>1</cp:revision>
  <dc:title>Neurofleetx_AIDriven_Urban_Mobility_Optimization_final_ppt</dc:title>
</cp:coreProperties>
</file>